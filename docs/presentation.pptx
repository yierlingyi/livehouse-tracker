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0A500"/>
                </a:solidFill>
                <a:latin typeface="微软雅黑"/>
                <a:ea typeface="微软雅黑"/>
              </a:rPr>
              <a:t>产 品 介 绍  ·  乐 队 演 出 查 看 小 程 序</a:t>
            </a:r>
          </a:p>
        </p:txBody>
      </p:sp>
      <p:sp>
        <p:nvSpPr>
          <p:cNvPr id="4" name="Oval 3"/>
          <p:cNvSpPr/>
          <p:nvPr/>
        </p:nvSpPr>
        <p:spPr>
          <a:xfrm>
            <a:off x="5779008" y="1417320"/>
            <a:ext cx="640080" cy="64008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79008" y="15727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乐队演出查看小程序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0">
                <a:solidFill>
                  <a:srgbClr val="F0A500"/>
                </a:solidFill>
                <a:latin typeface="微软雅黑"/>
                <a:ea typeface="微软雅黑"/>
              </a:rPr>
              <a:t>随时随地，发现身边的现场音乐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8B8D6"/>
                </a:solidFill>
                <a:latin typeface="微软雅黑"/>
                <a:ea typeface="微软雅黑"/>
              </a:rPr>
              <a:t>从 Livehouse 到音乐节，一站式掌握身边每一场正在售票的现场演出。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6727" y="498348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42448"/>
          </a:solidFill>
          <a:ln w="15875">
            <a:solidFill>
              <a:srgbClr val="3A3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FFFFFF"/>
                </a:solidFill>
                <a:latin typeface="微软雅黑"/>
                <a:ea typeface="微软雅黑"/>
              </a:rPr>
              <a:t>🎧  游客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24247" y="498348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42448"/>
          </a:solidFill>
          <a:ln w="15875">
            <a:solidFill>
              <a:srgbClr val="3A3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FFFFFF"/>
                </a:solidFill>
                <a:latin typeface="微软雅黑"/>
                <a:ea typeface="微软雅黑"/>
              </a:rPr>
              <a:t>🎸  乐队成员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41767" y="498348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42448"/>
          </a:solidFill>
          <a:ln w="15875">
            <a:solidFill>
              <a:srgbClr val="3A3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FFFFFF"/>
                </a:solidFill>
                <a:latin typeface="微软雅黑"/>
                <a:ea typeface="微软雅黑"/>
              </a:rPr>
              <a:t>🏟️  Livehouse 老板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解决了什么问题？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2287" y="1783080"/>
            <a:ext cx="3566160" cy="2286000"/>
          </a:xfrm>
          <a:prstGeom prst="roundRect">
            <a:avLst>
              <a:gd name="adj" fmla="val 7000"/>
            </a:avLst>
          </a:prstGeom>
          <a:solidFill>
            <a:srgbClr val="242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6607" y="2075688"/>
            <a:ext cx="457200" cy="45720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21671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0967" y="2112264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94560"/>
                </a:solidFill>
                <a:latin typeface="微软雅黑"/>
                <a:ea typeface="微软雅黑"/>
              </a:rPr>
              <a:t>痛点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283464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想听现场音乐，却不知道去哪找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2767" y="1783080"/>
            <a:ext cx="3566160" cy="2286000"/>
          </a:xfrm>
          <a:prstGeom prst="roundRect">
            <a:avLst>
              <a:gd name="adj" fmla="val 7000"/>
            </a:avLst>
          </a:prstGeom>
          <a:solidFill>
            <a:srgbClr val="242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87087" y="2075688"/>
            <a:ext cx="457200" cy="45720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7087" y="21671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1447" y="2112264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94560"/>
                </a:solidFill>
                <a:latin typeface="微软雅黑"/>
                <a:ea typeface="微软雅黑"/>
              </a:rPr>
              <a:t>痛点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7087" y="283464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演出信息分散在各个社交平台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3247" y="1783080"/>
            <a:ext cx="3566160" cy="2286000"/>
          </a:xfrm>
          <a:prstGeom prst="roundRect">
            <a:avLst>
              <a:gd name="adj" fmla="val 7000"/>
            </a:avLst>
          </a:prstGeom>
          <a:solidFill>
            <a:srgbClr val="242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27567" y="2075688"/>
            <a:ext cx="457200" cy="45720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27567" y="21671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1927" y="2112264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94560"/>
                </a:solidFill>
                <a:latin typeface="微软雅黑"/>
                <a:ea typeface="微软雅黑"/>
              </a:rPr>
              <a:t>痛点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7567" y="283464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到了现场，才发现票早已售罄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447" y="4572000"/>
            <a:ext cx="10972800" cy="1554480"/>
          </a:xfrm>
          <a:prstGeom prst="roundRect">
            <a:avLst>
              <a:gd name="adj" fmla="val 7000"/>
            </a:avLst>
          </a:prstGeom>
          <a:solidFill>
            <a:srgbClr val="2E2E5A"/>
          </a:solidFill>
          <a:ln w="15875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5207" y="5029200"/>
            <a:ext cx="640080" cy="640080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207" y="517550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1A1A2E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89607" y="4864608"/>
            <a:ext cx="93268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F0A500"/>
                </a:solidFill>
                <a:latin typeface="微软雅黑"/>
                <a:ea typeface="微软雅黑"/>
              </a:rPr>
              <a:t>我们的解决方案</a:t>
            </a:r>
          </a:p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一站式查看所有正在售票的演出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核心功能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3727" y="1737360"/>
            <a:ext cx="5394960" cy="1572768"/>
          </a:xfrm>
          <a:prstGeom prst="roundRect">
            <a:avLst>
              <a:gd name="adj" fmla="val 7000"/>
            </a:avLst>
          </a:prstGeom>
          <a:solidFill>
            <a:srgbClr val="242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9759" y="1737360"/>
            <a:ext cx="822960" cy="1572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FFFFFF"/>
                </a:solidFill>
                <a:latin typeface="微软雅黑"/>
                <a:ea typeface="微软雅黑"/>
              </a:rPr>
              <a:t>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5287" y="1901952"/>
            <a:ext cx="4069080" cy="1243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按日期浏览演出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B8B8D6"/>
                </a:solidFill>
                <a:latin typeface="微软雅黑"/>
                <a:ea typeface="微软雅黑"/>
              </a:rPr>
              <a:t>今天、本周、周末，想看的演出一目了然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737360"/>
            <a:ext cx="5394960" cy="1572768"/>
          </a:xfrm>
          <a:prstGeom prst="roundRect">
            <a:avLst>
              <a:gd name="adj" fmla="val 7000"/>
            </a:avLst>
          </a:prstGeom>
          <a:solidFill>
            <a:srgbClr val="242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9039" y="1737360"/>
            <a:ext cx="822960" cy="1572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FFFFFF"/>
                </a:solidFill>
                <a:latin typeface="微软雅黑"/>
                <a:ea typeface="微软雅黑"/>
              </a:rPr>
              <a:t>🏙️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4567" y="1901952"/>
            <a:ext cx="4069080" cy="1243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切换城市查看演出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B8B8D6"/>
                </a:solidFill>
                <a:latin typeface="微软雅黑"/>
                <a:ea typeface="微软雅黑"/>
              </a:rPr>
              <a:t>一键切换城市，发现不同地方的演出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3727" y="3493008"/>
            <a:ext cx="5394960" cy="1572768"/>
          </a:xfrm>
          <a:prstGeom prst="roundRect">
            <a:avLst>
              <a:gd name="adj" fmla="val 7000"/>
            </a:avLst>
          </a:prstGeom>
          <a:solidFill>
            <a:srgbClr val="242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759" y="3493008"/>
            <a:ext cx="822960" cy="1572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FFFFFF"/>
                </a:solidFill>
                <a:latin typeface="微软雅黑"/>
                <a:ea typeface="微软雅黑"/>
              </a:rPr>
              <a:t>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5287" y="3657600"/>
            <a:ext cx="4069080" cy="1243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查看演出详情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B8B8D6"/>
                </a:solidFill>
                <a:latin typeface="微软雅黑"/>
                <a:ea typeface="微软雅黑"/>
              </a:rPr>
              <a:t>乐队阵容、票价、购票链接一次看全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493008"/>
            <a:ext cx="5394960" cy="1572768"/>
          </a:xfrm>
          <a:prstGeom prst="roundRect">
            <a:avLst>
              <a:gd name="adj" fmla="val 7000"/>
            </a:avLst>
          </a:prstGeom>
          <a:solidFill>
            <a:srgbClr val="242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9039" y="3493008"/>
            <a:ext cx="822960" cy="1572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FFFFFF"/>
                </a:solidFill>
                <a:latin typeface="微软雅黑"/>
                <a:ea typeface="微软雅黑"/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4567" y="3657600"/>
            <a:ext cx="4069080" cy="1243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打开即看，无需登录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B8B8D6"/>
                </a:solidFill>
                <a:latin typeface="微软雅黑"/>
                <a:ea typeface="微软雅黑"/>
              </a:rPr>
              <a:t>点开链接就能用，不打扰不等待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06727" y="5285232"/>
            <a:ext cx="8778240" cy="1188720"/>
          </a:xfrm>
          <a:prstGeom prst="roundRect">
            <a:avLst>
              <a:gd name="adj" fmla="val 7000"/>
            </a:avLst>
          </a:prstGeom>
          <a:solidFill>
            <a:srgbClr val="242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2759" y="5285232"/>
            <a:ext cx="822960" cy="11887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FFFFFF"/>
                </a:solidFill>
                <a:latin typeface="微软雅黑"/>
                <a:ea typeface="微软雅黑"/>
              </a:rPr>
              <a:t>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58287" y="5449824"/>
            <a:ext cx="745236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弱网也能用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B8B8D6"/>
                </a:solidFill>
                <a:latin typeface="微软雅黑"/>
                <a:ea typeface="微软雅黑"/>
              </a:rPr>
              <a:t>有缓存，不怕没信号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使用场景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2287" y="1737360"/>
            <a:ext cx="3566160" cy="4480560"/>
          </a:xfrm>
          <a:prstGeom prst="roundRect">
            <a:avLst>
              <a:gd name="adj" fmla="val 7000"/>
            </a:avLst>
          </a:prstGeom>
          <a:solidFill>
            <a:srgbClr val="242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4895" y="2057400"/>
            <a:ext cx="640080" cy="64008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4895" y="2212848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微软雅黑"/>
                <a:ea typeface="微软雅黑"/>
              </a:rPr>
              <a:t>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9567" y="212140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游客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183" y="3017520"/>
            <a:ext cx="29718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1450" b="0">
                <a:solidFill>
                  <a:srgbClr val="FFFFFF"/>
                </a:solidFill>
                <a:latin typeface="微软雅黑"/>
                <a:ea typeface="微软雅黑"/>
              </a:rPr>
              <a:t>▸ 周末想找演出 → 打开小程序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1450" b="0">
                <a:solidFill>
                  <a:srgbClr val="FFFFFF"/>
                </a:solidFill>
                <a:latin typeface="微软雅黑"/>
                <a:ea typeface="微软雅黑"/>
              </a:rPr>
              <a:t>▸ 选城市 → 浏览演出列表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1450" b="0">
                <a:solidFill>
                  <a:srgbClr val="FFFFFF"/>
                </a:solidFill>
                <a:latin typeface="微软雅黑"/>
                <a:ea typeface="微软雅黑"/>
              </a:rPr>
              <a:t>▸ 查看详情 → 直接买票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2767" y="1737360"/>
            <a:ext cx="3566160" cy="4480560"/>
          </a:xfrm>
          <a:prstGeom prst="roundRect">
            <a:avLst>
              <a:gd name="adj" fmla="val 7000"/>
            </a:avLst>
          </a:prstGeom>
          <a:solidFill>
            <a:srgbClr val="242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05375" y="2057400"/>
            <a:ext cx="640080" cy="640080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5375" y="2212848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微软雅黑"/>
                <a:ea typeface="微软雅黑"/>
              </a:rPr>
              <a:t>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0047" y="212140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乐队成员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3663" y="3017520"/>
            <a:ext cx="29718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1450" b="0">
                <a:solidFill>
                  <a:srgbClr val="FFFFFF"/>
                </a:solidFill>
                <a:latin typeface="微软雅黑"/>
                <a:ea typeface="微软雅黑"/>
              </a:rPr>
              <a:t>▸ 分享小程序链接给粉丝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1450" b="0">
                <a:solidFill>
                  <a:srgbClr val="FFFFFF"/>
                </a:solidFill>
                <a:latin typeface="微软雅黑"/>
                <a:ea typeface="微软雅黑"/>
              </a:rPr>
              <a:t>▸ 粉丝看到详细演出信息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1450" b="0">
                <a:solidFill>
                  <a:srgbClr val="FFFFFF"/>
                </a:solidFill>
                <a:latin typeface="微软雅黑"/>
                <a:ea typeface="微软雅黑"/>
              </a:rPr>
              <a:t>▸ 更多人买票，演出更精彩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3247" y="1737360"/>
            <a:ext cx="3566160" cy="4480560"/>
          </a:xfrm>
          <a:prstGeom prst="roundRect">
            <a:avLst>
              <a:gd name="adj" fmla="val 7000"/>
            </a:avLst>
          </a:prstGeom>
          <a:solidFill>
            <a:srgbClr val="242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45855" y="2057400"/>
            <a:ext cx="640080" cy="640080"/>
          </a:xfrm>
          <a:prstGeom prst="ellipse">
            <a:avLst/>
          </a:prstGeom>
          <a:solidFill>
            <a:srgbClr val="6C8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5855" y="2212848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微软雅黑"/>
                <a:ea typeface="微软雅黑"/>
              </a:rPr>
              <a:t>🏟️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0527" y="212140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Livehouse 老板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4143" y="3017520"/>
            <a:ext cx="29718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1450" b="0">
                <a:solidFill>
                  <a:srgbClr val="FFFFFF"/>
                </a:solidFill>
                <a:latin typeface="微软雅黑"/>
                <a:ea typeface="微软雅黑"/>
              </a:rPr>
              <a:t>▸ 演出信息集中展示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1450" b="0">
                <a:solidFill>
                  <a:srgbClr val="FFFFFF"/>
                </a:solidFill>
                <a:latin typeface="微软雅黑"/>
                <a:ea typeface="微软雅黑"/>
              </a:rPr>
              <a:t>▸ 提高演出曝光度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1450" b="0">
                <a:solidFill>
                  <a:srgbClr val="FFFFFF"/>
                </a:solidFill>
                <a:latin typeface="微软雅黑"/>
                <a:ea typeface="微软雅黑"/>
              </a:rPr>
              <a:t>▸ 吸引更多观众到场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简单好用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3727" y="1737360"/>
            <a:ext cx="5394960" cy="2148840"/>
          </a:xfrm>
          <a:prstGeom prst="roundRect">
            <a:avLst>
              <a:gd name="adj" fmla="val 7000"/>
            </a:avLst>
          </a:prstGeom>
          <a:solidFill>
            <a:srgbClr val="242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6335" y="2029968"/>
            <a:ext cx="566928" cy="566928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335" y="217627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A1A2E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1007" y="2066544"/>
            <a:ext cx="4023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无需注册，打开即用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B8B8D6"/>
                </a:solidFill>
                <a:latin typeface="微软雅黑"/>
                <a:ea typeface="微软雅黑"/>
              </a:rPr>
              <a:t>不用填表，扫一扫或点开链接就能看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737360"/>
            <a:ext cx="5394960" cy="2148840"/>
          </a:xfrm>
          <a:prstGeom prst="roundRect">
            <a:avLst>
              <a:gd name="adj" fmla="val 7000"/>
            </a:avLst>
          </a:prstGeom>
          <a:solidFill>
            <a:srgbClr val="242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25615" y="2029968"/>
            <a:ext cx="566928" cy="566928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5615" y="217627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A1A2E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2066544"/>
            <a:ext cx="4023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数据自动更新，下拉刷新即可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B8B8D6"/>
                </a:solidFill>
                <a:latin typeface="微软雅黑"/>
                <a:ea typeface="微软雅黑"/>
              </a:rPr>
              <a:t>最新排期实时同步，刷新一下就有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3727" y="4069080"/>
            <a:ext cx="5394960" cy="2148840"/>
          </a:xfrm>
          <a:prstGeom prst="roundRect">
            <a:avLst>
              <a:gd name="adj" fmla="val 7000"/>
            </a:avLst>
          </a:prstGeom>
          <a:solidFill>
            <a:srgbClr val="242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6335" y="4361688"/>
            <a:ext cx="566928" cy="566928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6335" y="450799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A1A2E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1007" y="4398264"/>
            <a:ext cx="4023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离线也能查看已加载的演出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B8B8D6"/>
                </a:solidFill>
                <a:latin typeface="微软雅黑"/>
                <a:ea typeface="微软雅黑"/>
              </a:rPr>
              <a:t>提前加载过的内容，没信号也能看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4069080"/>
            <a:ext cx="5394960" cy="2148840"/>
          </a:xfrm>
          <a:prstGeom prst="roundRect">
            <a:avLst>
              <a:gd name="adj" fmla="val 7000"/>
            </a:avLst>
          </a:prstGeom>
          <a:solidFill>
            <a:srgbClr val="242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25615" y="4361688"/>
            <a:ext cx="566928" cy="566928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5615" y="450799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A1A2E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0287" y="4398264"/>
            <a:ext cx="4023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界面简洁清晰，一看就懂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B8B8D6"/>
                </a:solidFill>
                <a:latin typeface="微软雅黑"/>
                <a:ea typeface="微软雅黑"/>
              </a:rPr>
              <a:t>没有复杂操作，谁都能轻松上手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79008" y="1051560"/>
            <a:ext cx="640080" cy="64008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79008" y="120700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让每一场演出都被看见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8B8D6"/>
                </a:solidFill>
                <a:latin typeface="微软雅黑"/>
                <a:ea typeface="微软雅黑"/>
              </a:rPr>
              <a:t>乐队演出查看小程序 · 产品介绍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5367" y="3794760"/>
            <a:ext cx="7680960" cy="2286000"/>
          </a:xfrm>
          <a:prstGeom prst="roundRect">
            <a:avLst>
              <a:gd name="adj" fmla="val 7000"/>
            </a:avLst>
          </a:prstGeom>
          <a:solidFill>
            <a:srgbClr val="242448"/>
          </a:solidFill>
          <a:ln w="15875">
            <a:solidFill>
              <a:srgbClr val="3A3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2567" y="411480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0A500"/>
                </a:solidFill>
                <a:latin typeface="微软雅黑"/>
                <a:ea typeface="微软雅黑"/>
              </a:rPr>
              <a:t>联系我们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2567" y="4572000"/>
            <a:ext cx="6766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微信公众号：________________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电子邮箱：________________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联系电话：________________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